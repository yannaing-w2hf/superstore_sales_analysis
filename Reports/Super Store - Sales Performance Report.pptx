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26779-40AA-400D-993D-8B648678F048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852E9-A790-4385-9C8E-C7AF7D10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708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26779-40AA-400D-993D-8B648678F048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852E9-A790-4385-9C8E-C7AF7D10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12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26779-40AA-400D-993D-8B648678F048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852E9-A790-4385-9C8E-C7AF7D10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74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26779-40AA-400D-993D-8B648678F048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852E9-A790-4385-9C8E-C7AF7D10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282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26779-40AA-400D-993D-8B648678F048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852E9-A790-4385-9C8E-C7AF7D10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659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26779-40AA-400D-993D-8B648678F048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852E9-A790-4385-9C8E-C7AF7D10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794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26779-40AA-400D-993D-8B648678F048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852E9-A790-4385-9C8E-C7AF7D10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029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26779-40AA-400D-993D-8B648678F048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852E9-A790-4385-9C8E-C7AF7D10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811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26779-40AA-400D-993D-8B648678F048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852E9-A790-4385-9C8E-C7AF7D10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957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26779-40AA-400D-993D-8B648678F048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852E9-A790-4385-9C8E-C7AF7D10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676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26779-40AA-400D-993D-8B648678F048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852E9-A790-4385-9C8E-C7AF7D10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3308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26779-40AA-400D-993D-8B648678F048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852E9-A790-4385-9C8E-C7AF7D10258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52917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26779-40AA-400D-993D-8B648678F048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852E9-A790-4385-9C8E-C7AF7D10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47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26779-40AA-400D-993D-8B648678F048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852E9-A790-4385-9C8E-C7AF7D10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6971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26779-40AA-400D-993D-8B648678F048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852E9-A790-4385-9C8E-C7AF7D10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4825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26779-40AA-400D-993D-8B648678F048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852E9-A790-4385-9C8E-C7AF7D10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196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26779-40AA-400D-993D-8B648678F048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852E9-A790-4385-9C8E-C7AF7D10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70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B626779-40AA-400D-993D-8B648678F048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D852E9-A790-4385-9C8E-C7AF7D102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2357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A8F6E-EC3E-B592-6493-F9E277A9B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133765"/>
            <a:ext cx="9328319" cy="731982"/>
          </a:xfrm>
        </p:spPr>
        <p:txBody>
          <a:bodyPr/>
          <a:lstStyle/>
          <a:p>
            <a:r>
              <a:rPr lang="en-US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Super Store - Sales Performance Report</a:t>
            </a:r>
            <a:endParaRPr lang="en-US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119031-F336-9806-B95F-0A08158EC0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4" y="2530762"/>
            <a:ext cx="9199008" cy="3398983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Period: Jan – Jun</a:t>
            </a:r>
          </a:p>
          <a:p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Prepared By: Yan Naing Lin</a:t>
            </a:r>
          </a:p>
          <a:p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Tool: Power BI</a:t>
            </a:r>
          </a:p>
          <a:p>
            <a:endParaRPr lang="en-US" dirty="0">
              <a:solidFill>
                <a:schemeClr val="tx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200" dirty="0" err="1">
                <a:solidFill>
                  <a:schemeClr val="tx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PurPose</a:t>
            </a:r>
            <a:r>
              <a:rPr lang="en-US" sz="2200" dirty="0">
                <a:solidFill>
                  <a:schemeClr val="tx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</a:p>
          <a:p>
            <a:r>
              <a:rPr lang="en-US" sz="2200" dirty="0">
                <a:solidFill>
                  <a:schemeClr val="tx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 summarize Key Sales &amp; Profit insights for Management Decision-making</a:t>
            </a:r>
          </a:p>
        </p:txBody>
      </p:sp>
    </p:spTree>
    <p:extLst>
      <p:ext uri="{BB962C8B-B14F-4D97-AF65-F5344CB8AC3E}">
        <p14:creationId xmlns:p14="http://schemas.microsoft.com/office/powerpoint/2010/main" val="18766114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DE41E-BC4A-C83E-984A-C12D82130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Executive 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BAC06F-C182-8665-FD80-309BCDE570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09" y="1568673"/>
            <a:ext cx="9726325" cy="2113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Total Sales reached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1.92M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with total profit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224.08K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</a:schemeClr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Sales performance peaked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April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</a:schemeClr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Office Supplies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is the largest profit contributor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Corporate customers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generate the highest sales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Sales are concentrated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East &amp; West regions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led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>
                    <a:lumMod val="95000"/>
                  </a:schemeClr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California and New York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</a:schemeClr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8BD73EC-48A1-2589-50AB-2BA366C81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109" y="4319362"/>
            <a:ext cx="9726325" cy="869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>
                <a:solidFill>
                  <a:schemeClr val="tx1">
                    <a:lumMod val="9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Overall performance is positive, with clear opportunities to optimize product mix and regional focus.</a:t>
            </a:r>
            <a:endParaRPr lang="en-US" altLang="en-US" sz="1800" dirty="0">
              <a:solidFill>
                <a:schemeClr val="tx1">
                  <a:lumMod val="9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30650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AE1F8-069F-B1A3-A064-85E8D2B52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21972"/>
          </a:xfrm>
        </p:spPr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Overall Performance (KPIs)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8168C0-782E-1769-97AB-A20BEE9D03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1374690"/>
            <a:ext cx="10435754" cy="7127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0CB076-5CB6-725F-3372-8EA8B7BDB68F}"/>
              </a:ext>
            </a:extLst>
          </p:cNvPr>
          <p:cNvSpPr txBox="1"/>
          <p:nvPr/>
        </p:nvSpPr>
        <p:spPr>
          <a:xfrm>
            <a:off x="5638799" y="2964872"/>
            <a:ext cx="4197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A3C12F-3213-1537-81C0-D9FD5F96C00B}"/>
              </a:ext>
            </a:extLst>
          </p:cNvPr>
          <p:cNvSpPr txBox="1"/>
          <p:nvPr/>
        </p:nvSpPr>
        <p:spPr>
          <a:xfrm>
            <a:off x="646111" y="2364509"/>
            <a:ext cx="10435754" cy="29443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Orders: 1.36K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Customers: 1.13K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Products: 913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Sales: 1.92M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Total Profit: 224.08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Profit margin remains healthy across most product categories.</a:t>
            </a:r>
          </a:p>
        </p:txBody>
      </p:sp>
    </p:spTree>
    <p:extLst>
      <p:ext uri="{BB962C8B-B14F-4D97-AF65-F5344CB8AC3E}">
        <p14:creationId xmlns:p14="http://schemas.microsoft.com/office/powerpoint/2010/main" val="21419433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06A2A-7E92-D655-A7E6-EE8F57AD8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7B4B3-72BA-7D6F-E60F-5A7722FBD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21972"/>
          </a:xfrm>
        </p:spPr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 &amp; Profit Trend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181D3-B0E6-70A5-42AE-AAA71765F120}"/>
              </a:ext>
            </a:extLst>
          </p:cNvPr>
          <p:cNvSpPr txBox="1"/>
          <p:nvPr/>
        </p:nvSpPr>
        <p:spPr>
          <a:xfrm>
            <a:off x="5638799" y="2964872"/>
            <a:ext cx="4197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DF75E5-AE15-517B-1B9F-0AB4F58386C1}"/>
              </a:ext>
            </a:extLst>
          </p:cNvPr>
          <p:cNvSpPr txBox="1"/>
          <p:nvPr/>
        </p:nvSpPr>
        <p:spPr>
          <a:xfrm>
            <a:off x="646110" y="4387271"/>
            <a:ext cx="10306446" cy="2113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 and Profit show monthly fluctuations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April recorded the highest sales and profit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Slight decline observed in May, followed by recovery in June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Indicates possible seasonality or promotional impact in April.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D22786-EF97-A452-8A6B-C66FF06D3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0" y="1187268"/>
            <a:ext cx="9070545" cy="313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883708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45BB63F-2F74-EFA5-8982-856E04DDB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21972"/>
          </a:xfrm>
        </p:spPr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Profit by Product Category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9ADD43-E62E-BE20-E90B-0DBF26507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1642545"/>
            <a:ext cx="5079566" cy="41948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818A31-63FE-2328-CDAE-7B303F903145}"/>
              </a:ext>
            </a:extLst>
          </p:cNvPr>
          <p:cNvSpPr txBox="1"/>
          <p:nvPr/>
        </p:nvSpPr>
        <p:spPr>
          <a:xfrm>
            <a:off x="5965354" y="2121558"/>
            <a:ext cx="6226646" cy="2614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Office Supplies contributes the largest share of profit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Technology follows closely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Furniture generates comparatively lower profit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u="sng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Focus on improving margins in Furniture or </a:t>
            </a:r>
          </a:p>
          <a:p>
            <a:pPr>
              <a:lnSpc>
                <a:spcPct val="150000"/>
              </a:lnSpc>
            </a:pPr>
            <a:r>
              <a:rPr lang="en-US" sz="2000" u="sng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Expanding high-performing Office Supplies products.</a:t>
            </a:r>
          </a:p>
        </p:txBody>
      </p:sp>
    </p:spTree>
    <p:extLst>
      <p:ext uri="{BB962C8B-B14F-4D97-AF65-F5344CB8AC3E}">
        <p14:creationId xmlns:p14="http://schemas.microsoft.com/office/powerpoint/2010/main" val="132044585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A0DC1-5E69-062D-45CC-85CCF0A73E6C}"/>
              </a:ext>
            </a:extLst>
          </p:cNvPr>
          <p:cNvSpPr txBox="1">
            <a:spLocks/>
          </p:cNvSpPr>
          <p:nvPr/>
        </p:nvSpPr>
        <p:spPr>
          <a:xfrm>
            <a:off x="646111" y="452718"/>
            <a:ext cx="9404723" cy="921972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 Products Performance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FDA423-0CF3-0CE0-53A9-6D839CFD69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0" y="1354219"/>
            <a:ext cx="9767781" cy="23403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1031EB-E4A2-E704-4D58-18AD4DA26C0E}"/>
              </a:ext>
            </a:extLst>
          </p:cNvPr>
          <p:cNvSpPr txBox="1"/>
          <p:nvPr/>
        </p:nvSpPr>
        <p:spPr>
          <a:xfrm>
            <a:off x="646110" y="3694544"/>
            <a:ext cx="9767781" cy="2799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small number of products contribute a significant portion of sales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High-selling products are not always the most profitable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Opportunity to: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u="sng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Reprice low-margin best sellers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u="sng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Promote high-margin products more aggressively</a:t>
            </a:r>
          </a:p>
        </p:txBody>
      </p:sp>
    </p:spTree>
    <p:extLst>
      <p:ext uri="{BB962C8B-B14F-4D97-AF65-F5344CB8AC3E}">
        <p14:creationId xmlns:p14="http://schemas.microsoft.com/office/powerpoint/2010/main" val="130502128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CC080-8A4F-D04C-644E-CC765C65A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F9008-1F52-E80A-E386-B45530C94B4C}"/>
              </a:ext>
            </a:extLst>
          </p:cNvPr>
          <p:cNvSpPr txBox="1">
            <a:spLocks/>
          </p:cNvSpPr>
          <p:nvPr/>
        </p:nvSpPr>
        <p:spPr>
          <a:xfrm>
            <a:off x="646111" y="452718"/>
            <a:ext cx="9404723" cy="921972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Customer Segment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C79835-D223-BF52-EFF7-7D974856DE06}"/>
              </a:ext>
            </a:extLst>
          </p:cNvPr>
          <p:cNvSpPr txBox="1"/>
          <p:nvPr/>
        </p:nvSpPr>
        <p:spPr>
          <a:xfrm>
            <a:off x="5809785" y="2035309"/>
            <a:ext cx="6266063" cy="2337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Corporate segment is the largest contributor (~0.66M sales)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Home Office and Consumer segments show moderate performance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Small Business contributes steady but lower sales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A1D109-5D9C-758F-F976-E695BD8B8A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09" y="1564033"/>
            <a:ext cx="5163676" cy="32804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7E3FA8-01AF-6986-E1C4-D910EC03CF75}"/>
              </a:ext>
            </a:extLst>
          </p:cNvPr>
          <p:cNvSpPr txBox="1"/>
          <p:nvPr/>
        </p:nvSpPr>
        <p:spPr>
          <a:xfrm>
            <a:off x="646109" y="5033814"/>
            <a:ext cx="10899782" cy="570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u="sng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Corporate customers should remain a key strategic focus.</a:t>
            </a:r>
          </a:p>
        </p:txBody>
      </p:sp>
    </p:spTree>
    <p:extLst>
      <p:ext uri="{BB962C8B-B14F-4D97-AF65-F5344CB8AC3E}">
        <p14:creationId xmlns:p14="http://schemas.microsoft.com/office/powerpoint/2010/main" val="152933136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C2A2A-1A20-934C-A493-89E521E13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CB1AC-4249-FBEB-F6EA-88E211126AC7}"/>
              </a:ext>
            </a:extLst>
          </p:cNvPr>
          <p:cNvSpPr txBox="1">
            <a:spLocks/>
          </p:cNvSpPr>
          <p:nvPr/>
        </p:nvSpPr>
        <p:spPr>
          <a:xfrm>
            <a:off x="646111" y="452718"/>
            <a:ext cx="9404723" cy="921972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Regional Sales 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ED35E2-4F1A-1B0C-B085-8379B32FDD5F}"/>
              </a:ext>
            </a:extLst>
          </p:cNvPr>
          <p:cNvSpPr txBox="1"/>
          <p:nvPr/>
        </p:nvSpPr>
        <p:spPr>
          <a:xfrm>
            <a:off x="5643530" y="2578558"/>
            <a:ext cx="6266063" cy="1414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East (0.59M) and West (0.53M) lead total sales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Central and South regions underperform comparatively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15DA5-1353-FF85-618B-DB55D755D25B}"/>
              </a:ext>
            </a:extLst>
          </p:cNvPr>
          <p:cNvSpPr txBox="1"/>
          <p:nvPr/>
        </p:nvSpPr>
        <p:spPr>
          <a:xfrm>
            <a:off x="646109" y="5033814"/>
            <a:ext cx="10899782" cy="570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u="sng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Potential growth opportunity through targeted regional strategies.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93EFB7-4DD1-5285-ADE5-DCFFAA4CB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09" y="1537855"/>
            <a:ext cx="4905620" cy="349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55191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B0F06-3812-E111-F57C-C6AF56457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96161-45AD-E08D-1731-7FD424104FA1}"/>
              </a:ext>
            </a:extLst>
          </p:cNvPr>
          <p:cNvSpPr txBox="1">
            <a:spLocks/>
          </p:cNvSpPr>
          <p:nvPr/>
        </p:nvSpPr>
        <p:spPr>
          <a:xfrm>
            <a:off x="646111" y="452718"/>
            <a:ext cx="9404723" cy="921972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State-Level 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529B8E-877A-03C9-5D0D-E88057652695}"/>
              </a:ext>
            </a:extLst>
          </p:cNvPr>
          <p:cNvSpPr txBox="1"/>
          <p:nvPr/>
        </p:nvSpPr>
        <p:spPr>
          <a:xfrm>
            <a:off x="5809785" y="2143136"/>
            <a:ext cx="6266063" cy="1876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California and New York are the top-performing states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Sales are concentrated in a limited number of states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A0B047-B330-3207-B050-EF624CBC55CD}"/>
              </a:ext>
            </a:extLst>
          </p:cNvPr>
          <p:cNvSpPr txBox="1"/>
          <p:nvPr/>
        </p:nvSpPr>
        <p:spPr>
          <a:xfrm>
            <a:off x="646109" y="5033814"/>
            <a:ext cx="10899782" cy="570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u="sng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Regional dependency risk exists - diversification may be needed.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F01D74-EF40-4084-8F70-460E3DDFC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09" y="1374690"/>
            <a:ext cx="5163676" cy="341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68409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B19A8-21E8-CE31-590D-60994BEFC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ADE34-68D5-EBA1-97AB-620F2B5CA869}"/>
              </a:ext>
            </a:extLst>
          </p:cNvPr>
          <p:cNvSpPr txBox="1">
            <a:spLocks/>
          </p:cNvSpPr>
          <p:nvPr/>
        </p:nvSpPr>
        <p:spPr>
          <a:xfrm>
            <a:off x="646111" y="452718"/>
            <a:ext cx="9404723" cy="921972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 Business Recommendations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190255-F828-84A5-4813-73356EEFBFA5}"/>
              </a:ext>
            </a:extLst>
          </p:cNvPr>
          <p:cNvSpPr txBox="1"/>
          <p:nvPr/>
        </p:nvSpPr>
        <p:spPr>
          <a:xfrm>
            <a:off x="646111" y="1704787"/>
            <a:ext cx="10123491" cy="2786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Strengthen focus on Office Supplies and Technology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Expand sales efforts for Corporate customers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Investigate April’s peak performance drivers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Improve profitability of Furniture category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Develop growth strategies for Central and South regions</a:t>
            </a:r>
          </a:p>
        </p:txBody>
      </p:sp>
    </p:spTree>
    <p:extLst>
      <p:ext uri="{BB962C8B-B14F-4D97-AF65-F5344CB8AC3E}">
        <p14:creationId xmlns:p14="http://schemas.microsoft.com/office/powerpoint/2010/main" val="320230396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94F60-8A51-4BA8-FDA7-294012C14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4D18C-FAB4-2A68-A359-50663CC02278}"/>
              </a:ext>
            </a:extLst>
          </p:cNvPr>
          <p:cNvSpPr txBox="1">
            <a:spLocks/>
          </p:cNvSpPr>
          <p:nvPr/>
        </p:nvSpPr>
        <p:spPr>
          <a:xfrm>
            <a:off x="646111" y="1736573"/>
            <a:ext cx="9404723" cy="921972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372375-E46A-E21C-5831-F5AEBE7F8468}"/>
              </a:ext>
            </a:extLst>
          </p:cNvPr>
          <p:cNvSpPr txBox="1"/>
          <p:nvPr/>
        </p:nvSpPr>
        <p:spPr>
          <a:xfrm>
            <a:off x="646111" y="2828637"/>
            <a:ext cx="10317453" cy="1678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dashboard provides clear visibility into sales drivers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supports informed decisions on products, customers, and regions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Further analysis (YoY trends, profit margins) can enhance insights</a:t>
            </a:r>
          </a:p>
        </p:txBody>
      </p:sp>
    </p:spTree>
    <p:extLst>
      <p:ext uri="{BB962C8B-B14F-4D97-AF65-F5344CB8AC3E}">
        <p14:creationId xmlns:p14="http://schemas.microsoft.com/office/powerpoint/2010/main" val="245066310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77</TotalTime>
  <Words>399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Century Gothic</vt:lpstr>
      <vt:lpstr>Tahoma</vt:lpstr>
      <vt:lpstr>Wingdings 3</vt:lpstr>
      <vt:lpstr>Ion</vt:lpstr>
      <vt:lpstr>Super Store - Sales Performance Report</vt:lpstr>
      <vt:lpstr>Executive Summary</vt:lpstr>
      <vt:lpstr>Overall Performance (KPIs)</vt:lpstr>
      <vt:lpstr>Sales &amp; Profit Trend Analysis</vt:lpstr>
      <vt:lpstr>Profit by Product Category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 Naing Lin</dc:creator>
  <cp:lastModifiedBy>Yan Naing Lin</cp:lastModifiedBy>
  <cp:revision>2</cp:revision>
  <dcterms:created xsi:type="dcterms:W3CDTF">2025-12-13T15:16:38Z</dcterms:created>
  <dcterms:modified xsi:type="dcterms:W3CDTF">2025-12-13T16:33:43Z</dcterms:modified>
</cp:coreProperties>
</file>